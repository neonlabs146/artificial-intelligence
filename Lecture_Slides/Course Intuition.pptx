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>
      <p:cViewPr varScale="1">
        <p:scale>
          <a:sx n="124" d="100"/>
          <a:sy n="124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20238-64B8-1445-BA70-58F870BF7A59}" type="datetimeFigureOut">
              <a:rPr lang="en-NP" smtClean="0"/>
              <a:t>02/12/2025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9E41E-8C29-1E41-A4FA-CFEC4C7DFCC8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479072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DEA0-66FC-FC0E-0655-B53DAEDBC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35359-0187-2E6F-599A-0D5C0413E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E4F09-C250-DFE2-8819-9593FA892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EA89C-8D63-0EA2-55BF-F49B35D0E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392A1-3998-FE6A-FFBB-4CE6A6F57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9444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D614-A784-0C51-2F28-B579AF32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97C3A-C281-F9EA-FE87-65A165222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9945B-3F25-EA2B-90F1-5B1571292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25B05-3598-CCC7-8419-42FED573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DD83C-DE62-8F2B-D76C-A34D2F7B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41514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20BF-6B13-13F7-972D-A6B68DEA8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E645-BCA6-CA78-D1D9-53A723A79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8EB39-7F8B-58D8-4C16-FE39687F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A45BE-F8D7-B231-EF74-86776AAD2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B6821-D59F-5382-EC1C-1DB6C295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4084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264-C25A-25E1-32A2-C92759F4F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3EE70-120F-BC3D-8125-B8FBFC6D4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A9B0F-E78A-4738-7B34-2FCE5C714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748E9-65E7-E41C-D526-C9ADE0E8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C9305-DE96-4E2E-441B-B4211E8E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72B11-C6A8-2F85-1161-C8E5103BD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06089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A440F-3657-A5E7-51B0-3DFAB4DB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8277D-B76A-9C78-53E5-03A636C14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5D27C-6C17-CD91-CFB6-95E2DE40B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EE56B-739D-D909-F5DF-EDE161FB3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521B8-DCC1-E507-0C2E-6C87C52AD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D227A-4C41-2E61-D38A-C546118A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AF932F-BC2E-DA9A-1CAF-C301DCC44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F7736-49F3-1F56-FA18-8A282298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071404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21A-000E-FF07-C246-56FEFEF12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D42E2-DDEA-E6E3-CFEF-4A013121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3011B-19DF-2DBE-44B8-3DEC18E0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76EA5-6AD7-D112-C72C-E4BB5037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5198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B6031-571B-CE7D-E617-A5774C19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38C6EA-AC99-B6CC-5F4D-8D5DC641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8A389-4E61-8BE5-CBA9-3AE3663D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1326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E82B-599D-DB83-830B-3E2325DB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72239-FCDC-42F4-32F9-D3CA88F1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B7A01-C777-7F6A-8D42-0BD95E330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34F46-7A24-6EFF-113F-C49EFC9C7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06477-7CD3-0C2C-D616-59B05A46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96232-B13B-E28D-F621-87720DFD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431621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5746-83EE-0BB7-3D82-E4CE4E67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2E5A6-2AC1-ECAF-5198-9B9D592AB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AD6E2-4908-252A-C6CA-3BFF9EF51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8F87F-FCC1-E66D-FB93-EAB74ADAD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444C3-F744-9A73-D911-74EBB03F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80AD4-5E4A-FDD8-9EF5-F4D01213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59802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2D2C-952E-C0AA-99E9-23D0C4E5A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3D33A-7091-9784-5097-2B9A280A7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3EF3B-84F2-4246-9728-C3842BC2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8E7BB-A4D0-89B3-508B-AE8D90E5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D32BB-79AF-E10A-758D-B3ED6E3C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8894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ACAEF3-BD7E-E10D-9D7D-124AC99A7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01C3E-71D5-137C-2F4F-FED10A990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3CDDC-63B6-B00F-99FD-16864D55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CD4E8-42D3-C134-C284-C664B9AD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D84A7-55A9-1C68-66B3-351B3B93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6853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FAD42F-DBA3-C2A3-A92F-C53535C7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P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58EFA-3F85-EB3C-65D1-9A1353DD2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0906D-EB8B-8078-4882-51166AA36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01EF1-5EE5-DCE8-100F-706F99D5E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848E4-437C-D455-E2C4-FF99D29EA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9FE29-51C5-0440-B5F5-32AF9C0D599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08741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ictionary.cambridge.org/dictionary/english/reason" TargetMode="External"/><Relationship Id="rId13" Type="http://schemas.openxmlformats.org/officeDocument/2006/relationships/hyperlink" Target="https://dictionary.cambridge.org/dictionary/english/impress" TargetMode="External"/><Relationship Id="rId3" Type="http://schemas.openxmlformats.org/officeDocument/2006/relationships/hyperlink" Target="https://dictionary.cambridge.org/dictionary/english/learn" TargetMode="External"/><Relationship Id="rId7" Type="http://schemas.openxmlformats.org/officeDocument/2006/relationships/hyperlink" Target="https://dictionary.cambridge.org/dictionary/english/based" TargetMode="External"/><Relationship Id="rId12" Type="http://schemas.openxmlformats.org/officeDocument/2006/relationships/hyperlink" Target="https://dictionary.cambridge.org/dictionary/english/low" TargetMode="External"/><Relationship Id="rId2" Type="http://schemas.openxmlformats.org/officeDocument/2006/relationships/hyperlink" Target="https://dictionary.cambridge.org/dictionary/english/abil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ctionary.cambridge.org/dictionary/english/opinion" TargetMode="External"/><Relationship Id="rId11" Type="http://schemas.openxmlformats.org/officeDocument/2006/relationships/hyperlink" Target="https://dictionary.cambridge.org/dictionary/english/average" TargetMode="External"/><Relationship Id="rId5" Type="http://schemas.openxmlformats.org/officeDocument/2006/relationships/hyperlink" Target="https://dictionary.cambridge.org/dictionary/english/judgment" TargetMode="External"/><Relationship Id="rId10" Type="http://schemas.openxmlformats.org/officeDocument/2006/relationships/hyperlink" Target="https://dictionary.cambridge.org/dictionary/english/child" TargetMode="External"/><Relationship Id="rId4" Type="http://schemas.openxmlformats.org/officeDocument/2006/relationships/hyperlink" Target="https://dictionary.cambridge.org/dictionary/english/understand" TargetMode="External"/><Relationship Id="rId9" Type="http://schemas.openxmlformats.org/officeDocument/2006/relationships/hyperlink" Target="https://dictionary.cambridge.org/dictionary/english/test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annica.com/science/history-of-artificial-intelligence" TargetMode="External"/><Relationship Id="rId7" Type="http://schemas.openxmlformats.org/officeDocument/2006/relationships/hyperlink" Target="https://www.coursera.org/articles/history-of-ai" TargetMode="External"/><Relationship Id="rId2" Type="http://schemas.openxmlformats.org/officeDocument/2006/relationships/hyperlink" Target="https://www.tableau.com/data-insights/ai/histor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History_of_artificial_intelligence" TargetMode="External"/><Relationship Id="rId5" Type="http://schemas.openxmlformats.org/officeDocument/2006/relationships/hyperlink" Target="https://www.techtarget.com/searchenterpriseai/tip/The-history-of-artificial-intelligence-Complete-AI-timeline" TargetMode="External"/><Relationship Id="rId4" Type="http://schemas.openxmlformats.org/officeDocument/2006/relationships/hyperlink" Target="https://www.calls9.com/blogs/the-history-of-ai-a-timeline-from-1940-to-2023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annica.com/science/history-of-artificial-intelligence" TargetMode="External"/><Relationship Id="rId2" Type="http://schemas.openxmlformats.org/officeDocument/2006/relationships/hyperlink" Target="https://www.calls9.com/blogs/the-history-of-ai-a-timeline-from-1940-to-202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erloop.io/blog/the-timeline-of-artificial-intelligence-from-the-1940s/" TargetMode="External"/><Relationship Id="rId5" Type="http://schemas.openxmlformats.org/officeDocument/2006/relationships/hyperlink" Target="https://www.tableau.com/data-insights/ai/history" TargetMode="External"/><Relationship Id="rId4" Type="http://schemas.openxmlformats.org/officeDocument/2006/relationships/hyperlink" Target="https://en.wikipedia.org/wiki/History_of_artificial_intelligence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rtificial intelligence and consultancy">
            <a:extLst>
              <a:ext uri="{FF2B5EF4-FFF2-40B4-BE49-F238E27FC236}">
                <a16:creationId xmlns:a16="http://schemas.microsoft.com/office/drawing/2014/main" id="{C766BF57-12A1-6FA9-1E99-97CD74940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8000" pressure="1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8023" cy="6858000"/>
          </a:xfrm>
          <a:prstGeom prst="rect">
            <a:avLst/>
          </a:prstGeom>
          <a:noFill/>
          <a:effectLst>
            <a:glow rad="151678">
              <a:schemeClr val="accent1">
                <a:alpha val="55000"/>
              </a:schemeClr>
            </a:glow>
            <a:softEdge rad="100737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02171E-F200-94F0-E439-2673AF662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>
            <a:glow rad="1347653">
              <a:schemeClr val="accent1">
                <a:alpha val="40000"/>
              </a:schemeClr>
            </a:glow>
            <a:softEdge rad="524239"/>
          </a:effectLst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  <a:br>
              <a:rPr lang="en-US" sz="4800" b="1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ENCT 305 </a:t>
            </a:r>
            <a:br>
              <a:rPr lang="en-US" sz="4800" b="1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NP" sz="48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C82F8-A6A4-C4FF-8F85-7BA0DD531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BEI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IOE,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Thapathali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 V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NP" sz="28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iran Bagale</a:t>
            </a:r>
          </a:p>
        </p:txBody>
      </p:sp>
    </p:spTree>
    <p:extLst>
      <p:ext uri="{BB962C8B-B14F-4D97-AF65-F5344CB8AC3E}">
        <p14:creationId xmlns:p14="http://schemas.microsoft.com/office/powerpoint/2010/main" val="3163492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ED32-20DC-B1D8-CDD2-D5489E1F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Objectives: </a:t>
            </a:r>
            <a:endParaRPr lang="en-NP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2B58F-D179-F2E3-8924-EF2A5C297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strong foundation in Artificial Intelligence (AI), covering intelligent agents, search techniques, knowledge representation, machine and learning.  </a:t>
            </a:r>
          </a:p>
          <a:p>
            <a:pPr algn="just"/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equip students with both theoretical knowledge and practical skills to apply AI techniques in solving real-world problems.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foster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awareness of the ethical considerations associated with AI applications.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NP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E81BD-512B-BB6D-3A46-A69E3FD84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25E91-B2BE-BF4F-BE5B-19F754E4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82297-6BF8-88A0-730E-738D517A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586746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7807-7803-95CE-B005-64A8A965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1A85B-834B-285A-32D4-0EAA0C886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US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(4hrs.)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and Search </a:t>
            </a:r>
            <a:r>
              <a:rPr lang="en-US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(9hrs.)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 and Probabilistic Reasoning </a:t>
            </a:r>
            <a:r>
              <a:rPr lang="en-US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(7hrs.)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Fundamentals </a:t>
            </a:r>
            <a:r>
              <a:rPr lang="en-US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(10hrs.)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Algorithms </a:t>
            </a:r>
            <a:r>
              <a:rPr lang="en-US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(6hrs.)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Applications </a:t>
            </a:r>
            <a:r>
              <a:rPr lang="en-US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(7hrs.)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Ethics and Recent Trends </a:t>
            </a:r>
            <a:r>
              <a:rPr lang="en-US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(2hrs.)</a:t>
            </a: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NP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3FD5C-A42C-BB14-BE85-78DF6FE9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A99DD-C447-A018-F5A4-2B88A890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0943C-7CCB-B320-187D-B767B3FF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3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921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66B0E-0302-7DCA-B1C3-5D62E026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tx2">
                    <a:lumMod val="75000"/>
                  </a:schemeClr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References </a:t>
            </a:r>
            <a:endParaRPr lang="en-NP" b="1" dirty="0">
              <a:solidFill>
                <a:schemeClr val="tx2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C7E6F-07DD-88E2-DC4F-C0CC3BCF0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+mj-lt"/>
              <a:buAutoNum type="arabicPeriod"/>
            </a:pPr>
            <a:r>
              <a:rPr lang="en-US" sz="320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Russell, S., Norvig, P. (2020). Artificial intelligence: A modern approach. Pearson. </a:t>
            </a:r>
          </a:p>
          <a:p>
            <a:pPr algn="just">
              <a:buFont typeface="+mj-lt"/>
              <a:buAutoNum type="arabicPeriod"/>
            </a:pPr>
            <a:r>
              <a:rPr lang="en-US" sz="320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Rich, E., Knight, K., Nair, S. B. (2009). Artificial intelligence. McGraw-Hill. </a:t>
            </a:r>
          </a:p>
          <a:p>
            <a:pPr algn="just">
              <a:buFont typeface="+mj-lt"/>
              <a:buAutoNum type="arabicPeriod"/>
            </a:pPr>
            <a:r>
              <a:rPr lang="en-US" sz="320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Bishop, C. M. (2006). Pattern recognition and machine learning. Springer. </a:t>
            </a:r>
          </a:p>
          <a:p>
            <a:pPr algn="just">
              <a:buFont typeface="+mj-lt"/>
              <a:buAutoNum type="arabicPeriod"/>
            </a:pPr>
            <a:r>
              <a:rPr lang="en-US" sz="3200" dirty="0" err="1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Deisenroth</a:t>
            </a:r>
            <a:r>
              <a:rPr lang="en-US" sz="320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, M. P., Faisal, A. A., Ong, C. S. (2020). Mathematics for </a:t>
            </a:r>
          </a:p>
          <a:p>
            <a:pPr algn="just">
              <a:buFont typeface="+mj-lt"/>
              <a:buAutoNum type="arabicPeriod"/>
            </a:pPr>
            <a:r>
              <a:rPr lang="en-US" sz="320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machine learning. Cambridge University Press. </a:t>
            </a:r>
          </a:p>
          <a:p>
            <a:pPr algn="just"/>
            <a:endParaRPr lang="en-NP" sz="44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0EC826-C2DB-0A71-5B81-18AC48B5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C2AA72-EE30-81DC-BF9B-894AC535B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52F651-79FE-B94D-EB6E-E50B8840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4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74452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EAA9-DDB9-0850-C961-9F6C8161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75B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endParaRPr lang="en-US" sz="8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3" name="Picture 1" descr="page6image31781056">
            <a:extLst>
              <a:ext uri="{FF2B5EF4-FFF2-40B4-BE49-F238E27FC236}">
                <a16:creationId xmlns:a16="http://schemas.microsoft.com/office/drawing/2014/main" id="{8F1ACDBE-C8A9-1060-02FD-BDB562100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10" y="1512160"/>
            <a:ext cx="11433835" cy="171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7EACC9-569F-3381-C13E-7D38141AD8B1}"/>
              </a:ext>
            </a:extLst>
          </p:cNvPr>
          <p:cNvSpPr txBox="1"/>
          <p:nvPr/>
        </p:nvSpPr>
        <p:spPr>
          <a:xfrm>
            <a:off x="698643" y="3525649"/>
            <a:ext cx="56096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+ Class performance: 20%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Assignments: 20%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Assesments:60%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02EE32-9D2A-1034-A428-376FD9B3688B}"/>
              </a:ext>
            </a:extLst>
          </p:cNvPr>
          <p:cNvSpPr txBox="1"/>
          <p:nvPr/>
        </p:nvSpPr>
        <p:spPr>
          <a:xfrm>
            <a:off x="5925620" y="3525649"/>
            <a:ext cx="58074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: 30%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performance: 20%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reports and Program assignments:60%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843CDC-8AC7-83F1-3AF9-E3B35ACC4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F0A9488-70DD-0345-2936-448DEE0F6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2D1E5A-7DA3-0019-B8EA-2A94B5B3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5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41274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49E385-FCFC-BBFE-84E8-3EA19F94056B}"/>
              </a:ext>
            </a:extLst>
          </p:cNvPr>
          <p:cNvSpPr txBox="1"/>
          <p:nvPr/>
        </p:nvSpPr>
        <p:spPr>
          <a:xfrm>
            <a:off x="3048856" y="3246902"/>
            <a:ext cx="6097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An Introduction to AI </a:t>
            </a:r>
            <a:endParaRPr lang="en-US" sz="4800" b="1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724DA-B853-32B1-5960-3719BBF4F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88A17-0042-67C4-27C8-3BFC9987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880C6-D774-19A3-2EEE-034BD09F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6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92654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1FAE5B8-B795-C37E-6D93-1BEC560F9990}"/>
              </a:ext>
            </a:extLst>
          </p:cNvPr>
          <p:cNvGrpSpPr/>
          <p:nvPr/>
        </p:nvGrpSpPr>
        <p:grpSpPr>
          <a:xfrm>
            <a:off x="1880170" y="750016"/>
            <a:ext cx="8815228" cy="5916888"/>
            <a:chOff x="1880170" y="1178556"/>
            <a:chExt cx="8578921" cy="558081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A0BE7CC-AAA8-8D70-DF06-75082E0B2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80170" y="1178556"/>
              <a:ext cx="8578921" cy="5580813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6B8DA61-191A-19DC-B41D-1E8DDB3E3B43}"/>
                </a:ext>
              </a:extLst>
            </p:cNvPr>
            <p:cNvSpPr/>
            <p:nvPr/>
          </p:nvSpPr>
          <p:spPr>
            <a:xfrm>
              <a:off x="10161142" y="6298058"/>
              <a:ext cx="150688" cy="1746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P">
                <a:solidFill>
                  <a:schemeClr val="bg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075F363-028A-9C2D-3ECF-0E63D1E20123}"/>
              </a:ext>
            </a:extLst>
          </p:cNvPr>
          <p:cNvSpPr txBox="1"/>
          <p:nvPr/>
        </p:nvSpPr>
        <p:spPr>
          <a:xfrm>
            <a:off x="2944402" y="316472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What is AI? </a:t>
            </a:r>
            <a:endParaRPr lang="en-US" sz="36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DCA009-369A-16CA-33F9-76985627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3D770-F0BB-DCE5-719F-403C7E61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290B2D-E44E-6FE5-E277-4E0F9994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7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740219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rtificial intelligence">
            <a:extLst>
              <a:ext uri="{FF2B5EF4-FFF2-40B4-BE49-F238E27FC236}">
                <a16:creationId xmlns:a16="http://schemas.microsoft.com/office/drawing/2014/main" id="{36072126-CF8F-4340-0AD7-0585F1695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16" y="421238"/>
            <a:ext cx="11538669" cy="595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F2432-6E7A-C9B2-ACA9-B24E37E2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6AFD7-9F5D-9F50-AD2A-68225CD29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5D69B-E10C-7156-6AA7-8F8673F78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8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305421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F440-8E19-EF51-B4A7-24D31C1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85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Meaning of the word: “intelligence”  </a:t>
            </a:r>
            <a:endParaRPr lang="en-NP" sz="72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F42564-D572-2C0B-C67B-CF51E482C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980"/>
            <a:ext cx="10515600" cy="501598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The capacity to acquire and apply knowledge.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The faculty of thought and reason.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Superior powers of mind. See Synonyms at mind.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intelligent, incorporeal being, especially an angel.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Information; news. See Synonyms at news.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Secret information, especially about an actual or potential enemy.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An agency, staff, or office employed in gathering such information.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Espionage agents, organizations, and activities considered as group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The American Heritage® Dictionary of the English Language, Fourth Edition Copyright © 2000 by Houghton Mifflin Company. Published by Houghton Mifflin Company. All rights reserved.</a:t>
            </a:r>
            <a:endParaRPr lang="en-N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72C3C9-3954-8B1E-DD24-7DADC5CE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63FDEB-E167-D72A-000F-9737B1A3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BD73D9C-BED2-82A9-EB8C-DCC64EC7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9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77918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51A1-4A1A-5F21-EE94-ADFAECE9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Meaning of the word: “intelligence”  </a:t>
            </a:r>
            <a:endParaRPr lang="en-NP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D5255-F386-583D-41F6-09E61201F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560"/>
            <a:ext cx="10515600" cy="476940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200" b="1" i="0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3200" b="1" i="0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tooltip="ability"/>
              </a:rPr>
              <a:t>ability</a:t>
            </a:r>
            <a:r>
              <a:rPr lang="en-US" sz="3200" b="1" i="0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 </a:t>
            </a:r>
            <a:r>
              <a:rPr lang="en-US" sz="3200" b="1" i="0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tooltip="learn"/>
              </a:rPr>
              <a:t>learn</a:t>
            </a:r>
            <a:r>
              <a:rPr lang="en-US" sz="3200" b="1" i="0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3200" b="1" i="0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 tooltip="understand"/>
              </a:rPr>
              <a:t>understand</a:t>
            </a:r>
            <a:r>
              <a:rPr lang="en-US" sz="3200" b="1" i="0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make </a:t>
            </a:r>
            <a:r>
              <a:rPr lang="en-US" sz="3200" b="1" i="0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 tooltip="judgments"/>
              </a:rPr>
              <a:t>judgments</a:t>
            </a:r>
            <a:r>
              <a:rPr lang="en-US" sz="3200" b="1" i="0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 have </a:t>
            </a:r>
            <a:r>
              <a:rPr lang="en-US" sz="3200" b="1" i="0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 tooltip="opinions"/>
              </a:rPr>
              <a:t>opinions</a:t>
            </a:r>
            <a:r>
              <a:rPr lang="en-US" sz="3200" b="1" i="0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are </a:t>
            </a:r>
            <a:r>
              <a:rPr lang="en-US" sz="3200" b="1" i="0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 tooltip="based"/>
              </a:rPr>
              <a:t>based</a:t>
            </a:r>
            <a:r>
              <a:rPr lang="en-US" sz="3200" b="1" i="0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 </a:t>
            </a:r>
            <a:r>
              <a:rPr lang="en-US" sz="3200" b="1" i="0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 tooltip="reason"/>
              </a:rPr>
              <a:t>reason</a:t>
            </a:r>
            <a:r>
              <a:rPr lang="en-US" sz="3200" b="1" i="0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3200" b="0" i="1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intelligence </a:t>
            </a:r>
            <a:r>
              <a:rPr lang="en-US" sz="3200" b="0" i="1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9" tooltip="test"/>
              </a:rPr>
              <a:t>test</a:t>
            </a:r>
            <a:endParaRPr lang="en-US" sz="3200" b="0" i="0" dirty="0">
              <a:solidFill>
                <a:srgbClr val="1D2A57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0" i="1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3200" b="0" i="1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 tooltip="child"/>
              </a:rPr>
              <a:t>child</a:t>
            </a:r>
            <a:r>
              <a:rPr lang="en-US" sz="3200" b="0" i="1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high/</a:t>
            </a:r>
            <a:r>
              <a:rPr lang="en-US" sz="3200" b="0" i="1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1" tooltip="average"/>
              </a:rPr>
              <a:t>average</a:t>
            </a:r>
            <a:r>
              <a:rPr lang="en-US" sz="3200" b="0" i="1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b="0" i="1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2" tooltip="low"/>
              </a:rPr>
              <a:t>low</a:t>
            </a:r>
            <a:r>
              <a:rPr lang="en-US" sz="3200" b="0" i="1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intelligence</a:t>
            </a:r>
            <a:endParaRPr lang="en-US" sz="3200" b="0" i="0" dirty="0">
              <a:solidFill>
                <a:srgbClr val="1D2A57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0" i="1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It's the intelligence of her writing that </a:t>
            </a:r>
            <a:r>
              <a:rPr lang="en-US" sz="3200" b="0" i="1" u="none" strike="noStrike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3" tooltip="impresses"/>
              </a:rPr>
              <a:t>impresses</a:t>
            </a:r>
            <a:r>
              <a:rPr lang="en-US" sz="3200" b="0" i="1" dirty="0">
                <a:solidFill>
                  <a:srgbClr val="1D2A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me.</a:t>
            </a: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Cambridge Dictionary</a:t>
            </a:r>
            <a:endParaRPr lang="en-US" sz="3200" b="0" i="0" dirty="0">
              <a:solidFill>
                <a:srgbClr val="1D2A57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the ability to comprehend; to understand and profit from experience [ant: stupidity]</a:t>
            </a: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a unit responsible for gathering and interpreting intelligence</a:t>
            </a: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secret information about an enemy (or potential enemy); "we sent out planes</a:t>
            </a: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gather intelligence on their radar coverage" </a:t>
            </a: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WordNet ® 1.6, © 1997 Princeton University</a:t>
            </a:r>
            <a:endParaRPr lang="en-NP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E340A-CE39-16C3-AEE7-9388CCEE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6EEF0-0F29-1385-B182-507A31BCB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C917C-E10C-23F8-A1E3-E553237B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10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394650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017FA-EE98-6829-CFC1-221C1523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75B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Behaviors are Intelligent? </a:t>
            </a:r>
            <a:endParaRPr lang="en-NP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0E627-2F2C-EA3C-E414-37E58EDC9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0" dirty="0">
                <a:solidFill>
                  <a:srgbClr val="FF99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Everyday tasks</a:t>
            </a:r>
            <a: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recognize a friend, recognize who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calling, translate from one language to another, interpret a photograph, talk, cook a dinner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  </a:t>
            </a:r>
          </a:p>
          <a:p>
            <a:pPr algn="just"/>
            <a:r>
              <a:rPr lang="en-US" sz="3200" b="0" dirty="0">
                <a:solidFill>
                  <a:srgbClr val="FF99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 tasks</a:t>
            </a:r>
            <a: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prove a logic theorem, geometry, calculus, play chess, checkers, or Go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  </a:t>
            </a:r>
            <a:endParaRPr lang="en-US" sz="4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0" dirty="0">
                <a:solidFill>
                  <a:srgbClr val="FF99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Expert tasks</a:t>
            </a:r>
            <a: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engineering design, medical designers, financial analysis </a:t>
            </a:r>
            <a:endParaRPr lang="en-US" sz="4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NP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53D7-0D9C-5926-2CFF-B07674247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21DAD-28ED-413F-C233-46705743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BD64A-F829-1C38-E687-831DA3DF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11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93845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EC56-21D2-A451-50FB-E4DAE543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75B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  <a:endParaRPr lang="en-NP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51633-6346-7D48-2C0B-9ABA862CA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above, `artificial intelligence' is about the science and engineering necessary to create artifacts that can </a:t>
            </a:r>
          </a:p>
          <a:p>
            <a:pPr marL="1028700" lvl="1" indent="-571500" algn="just">
              <a:buFont typeface="+mj-lt"/>
              <a:buAutoNum type="romanLcPeriod"/>
            </a:pPr>
            <a: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acquire knowledge, i.e., can learn and extract knowledge; and </a:t>
            </a:r>
          </a:p>
          <a:p>
            <a:pPr marL="1028700" lvl="1" indent="-571500" algn="just">
              <a:buFont typeface="+mj-lt"/>
              <a:buAutoNum type="romanLcPeriod"/>
            </a:pPr>
            <a: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reason with knowledge (leading to doing tasks such as planning, explaining, diagnosing, acting rationally, etc.), </a:t>
            </a:r>
            <a:endParaRPr lang="en-US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NP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A1BCF-FCA7-7156-D62A-EA968E20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5D887-0E13-43DF-B257-FCF37F0F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1C6C7-A538-CF16-209A-2E2D059E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12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66437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62779-C519-5E79-2FD8-0AF54A3A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75B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 Definitions </a:t>
            </a:r>
            <a:endParaRPr lang="en-NP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1CA43-6C6D-B249-FCC9-4606C531F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Barr and Feigenbaum </a:t>
            </a:r>
            <a:endParaRPr lang="en-US" sz="4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“</a:t>
            </a:r>
            <a: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is the part of computer science 	concerned with designing intelligence computer systems, 	that is, systems that exhibit the characteristics we 	associate with intelligence in human behavior.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</a:p>
          <a:p>
            <a:pPr marL="0"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Elaine Rich </a:t>
            </a:r>
            <a:endParaRPr lang="en-US" sz="4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“</a:t>
            </a:r>
            <a: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is the study of how to make computers do things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	which, at the moment, people are better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endParaRPr lang="en-US" sz="4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NP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9788F-F760-C9B0-9012-7A21D314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6B0A-73B2-B6DC-14C6-AE96B918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06DA8-F727-FC55-5E58-C6AB82ADE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13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667255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7B49-A1D6-48A3-A643-B47D29BA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475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Artificial Intelligence </a:t>
            </a:r>
            <a:endParaRPr lang="en-NP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4A1F2-9EBC-ECEE-D10A-548CC3C73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076"/>
            <a:ext cx="10515600" cy="5290798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 exactly how humans actually think</a:t>
            </a:r>
          </a:p>
          <a:p>
            <a:pPr lvl="1" algn="just">
              <a:buFont typeface="Wingdings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cognitive models of human reasoning</a:t>
            </a:r>
          </a:p>
          <a:p>
            <a:pPr algn="just"/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 exactly how humans actually act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of human behavior (what they do, not how they think)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how ideal agents "should think"</a:t>
            </a:r>
          </a:p>
          <a:p>
            <a:pPr lvl="1" algn="just"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"rational" thought (formal logic)</a:t>
            </a:r>
          </a:p>
          <a:p>
            <a:pPr lvl="1" algn="just"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humans are often not rational!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how ideal agents "should act"</a:t>
            </a:r>
          </a:p>
          <a:p>
            <a:pPr lvl="1" algn="just"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 actions but not necessarily formal rational reasoning</a:t>
            </a:r>
          </a:p>
          <a:p>
            <a:pPr lvl="1" algn="just"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i.e., more of a black-box/engineering approach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Al focuses on the last definition</a:t>
            </a:r>
          </a:p>
          <a:p>
            <a:pPr lvl="1" algn="just"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also focus on this "engineering" approach</a:t>
            </a:r>
          </a:p>
          <a:p>
            <a:pPr lvl="1" algn="just"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is judged by how well the agent perform</a:t>
            </a:r>
          </a:p>
          <a:p>
            <a:pPr lvl="1" algn="just"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methods are inspired by cognitive &amp; neuroscience (how people think).</a:t>
            </a:r>
            <a:endParaRPr lang="en-N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EB5AC-9D39-9B35-2F10-F4B3497F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0E077-0A2F-3924-E617-43ABB80B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41464-33A1-38AF-363F-6837E9A2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14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74906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D7919-A59D-9CA9-99B8-7C244A6F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12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75B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Acting humanly: Turing Test </a:t>
            </a:r>
            <a:endParaRPr lang="en-NP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A98E5-861D-34C7-084A-F86EC0A0C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5640"/>
            <a:ext cx="10679987" cy="2229349"/>
          </a:xfrm>
        </p:spPr>
        <p:txBody>
          <a:bodyPr>
            <a:normAutofit/>
          </a:bodyPr>
          <a:lstStyle/>
          <a:p>
            <a:pPr algn="just"/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Turing (1950) "Computing machinery and intelligence":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machines think?”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machines behave intelligently?”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test for intelligent behavior: the Imitation Game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interrogator can communicate two with sources: one is human and the other is a machine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NP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65973-5F89-4732-67BC-7986B24C6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D76CA-3846-9643-1D6C-211B7560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6179E-9E61-B62C-D4C7-A213C831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15</a:t>
            </a:fld>
            <a:endParaRPr lang="en-NP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14EED7-2DAE-7140-2A9D-B42C5C421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665" y="3331485"/>
            <a:ext cx="5183135" cy="23193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EE1EC1-C250-D667-0BA3-3F34BC68E693}"/>
              </a:ext>
            </a:extLst>
          </p:cNvPr>
          <p:cNvSpPr txBox="1"/>
          <p:nvPr/>
        </p:nvSpPr>
        <p:spPr>
          <a:xfrm>
            <a:off x="838198" y="3564989"/>
            <a:ext cx="51413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must decide which is which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he is wrong half the time, then the machine is intelligent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043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D21F-3488-7773-8DA7-B9307DCE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Today </a:t>
            </a:r>
            <a:endParaRPr lang="en-NP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D7BE4E-B12D-06BD-BBD7-1964F5CF2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5181" y="1266310"/>
            <a:ext cx="4114800" cy="482677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161DF-73AE-6AF7-9CE9-31A06563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9E63-E1CE-FA9A-72C9-B6744631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4E198-EF78-99A9-541C-37D80731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16</a:t>
            </a:fld>
            <a:endParaRPr lang="en-NP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F52F1-E4BB-837B-3111-3E9CC340812A}"/>
              </a:ext>
            </a:extLst>
          </p:cNvPr>
          <p:cNvSpPr txBox="1"/>
          <p:nvPr/>
        </p:nvSpPr>
        <p:spPr>
          <a:xfrm>
            <a:off x="838201" y="1568771"/>
            <a:ext cx="63331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Diagnose lymph- node diseases [Heckerman, 91]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space shuttle missions [Horvitz, 92]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vehicle control [Jochem et al., 96]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 scale scheduling [Smith et al., 96]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astronomical objects [Goebel et al., 89]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design and configuration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commercial speech understanding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Beat world's best players in chess, checkers, and backgammon.</a:t>
            </a:r>
          </a:p>
        </p:txBody>
      </p:sp>
    </p:spTree>
    <p:extLst>
      <p:ext uri="{BB962C8B-B14F-4D97-AF65-F5344CB8AC3E}">
        <p14:creationId xmlns:p14="http://schemas.microsoft.com/office/powerpoint/2010/main" val="805826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654BA-D9E0-C227-BC52-001B05647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77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History of AI </a:t>
            </a:r>
            <a:endParaRPr lang="en-NP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7BDF-285E-36CC-FFFF-A610A5382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899"/>
            <a:ext cx="10515600" cy="4944064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Foundations (Pre-1950)</a:t>
            </a: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Czech playwright Karel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Čapek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the word "robots" in his science fiction play "Rossum's Universal Robots"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Tableau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1929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Japanese professor Makoto Nishimura built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Gakutensoku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first Japanese robot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Tableau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1935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Alan Turing described an abstract computing machine with limitless memory and a scanner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Encyclopedia Britannica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1943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Warren McCulloch and Walter Pitts designed the first artificial neurons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Calls9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1948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Turing introduced many central AI concepts in his report "Intelligent Machinery"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Birth of AI (1950s)</a:t>
            </a: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Alan Turing published "Computing Machinery and Intelligence," introducing the Turing test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TechTarget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Christopher Strachey wrote a checkers program and Dietrich Prinz wrote one for chess using the Ferranti Mark 1 machine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TechTarget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Wikipedia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Marvin Minsky and Dean Edmonds developed SNARC, the first artificial neural network using 3,000 vacuum tubes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TechTarget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Arthur Samuel developed Samuel Checkers-Playing Program, the world's first self-learning game program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TechTarget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1956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Dartmouth Conference, where John McCarthy coined the term "artificial intelligence"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Coursera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1958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John McCarthy created LISP, the first programming language for AI research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Tableau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N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EE7FB-9869-8C56-AFAA-D800C712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4E66B-B1CB-60A8-F491-DE588D6A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C0F18-628D-5A7D-980E-41220F3C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17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053249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90FEE-6863-7B2A-7730-69F7C61D8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5772"/>
            <a:ext cx="10515600" cy="5211191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Development (1960s-1970s)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Joseph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Weizenbaum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unveiled ELIZA, a precursor to modern chatbots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Calls9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1966-1972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Shakey the robot, the first general-purpose mobile robot capable of reasoning about its own actions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Marvin Minsky and Seymour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the microworld approach for AI research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Encyclopedia Britannica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Dendral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expert system showcased the potential of rule-based systems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Calls9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SHRDLU, written by Terry Winograd, could respond to commands in natural English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Encyclopedia Britannica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first "AI Winter" began as U.S. and British governments stopped funding undirected AI research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Wikipedia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Boom and Second Winter (1980s-1990s)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American Association of Artificial Intelligence (now AAAI) was founded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Tableau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XCON, the first commercial expert system, came to market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Tableau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Japan allocated $850 million to the Fifth Generation Computer project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Tableau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Neural networks resurged with the revolutionary concept of backpropagation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Calls9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1990s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Second AI winter as investors' enthusiasm waned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IBM's Deep Blue defeated world chess champion Garry Kasparov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AI Era (2000s-2010s)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IBM Watson won Jeopardy!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 convolutional neural network set new benchmarks in the ImageNet competition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Calls9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Ian Goodfellow formalized Generative Adversarial Networks (GANs)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Calls9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founded to channel AI advancements for humanity's benefit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Calls9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AlphaGo defeated world champion Go player Lee Sedol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introduced, capable of synthesizing human-like speech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Calls9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Sophia the humanoid robot was activated by Hansen Robotics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Verloop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Developments (2020s)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30, 2022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launched, gaining over 100 million users in two months and becoming the fastest-growing consumer software application in history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Wikipedia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Multiple companies launched competing large language models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European Parliament adopted the Artificial Intelligence Act</a:t>
            </a:r>
          </a:p>
          <a:p>
            <a:pPr algn="just"/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DA5B9-8FF2-AAB2-1379-87C6BD161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93FF0-A44D-B0DC-3CBA-C4621BCA7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DC971-444B-ACC1-7683-D3AB7B99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18</a:t>
            </a:fld>
            <a:endParaRPr lang="en-NP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946800-C350-6B4E-4E3F-861D61D3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064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History of AI </a:t>
            </a:r>
            <a:endParaRPr lang="en-NP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002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3F5A-74BD-D5B4-0892-E688BDFD6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Prolog </a:t>
            </a:r>
            <a:endParaRPr lang="en-NP" sz="80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92639-7B6B-338C-F93C-C5235C379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382"/>
            <a:ext cx="11049000" cy="238360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Prolog program: France, 1970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theorem proving research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development at University of Edinburgh, 1975-79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Adopted by the Japanese Fifth Generation Computing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00A87-2359-9349-CE4F-BE0EBB87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14D2B-5845-8321-E1CD-E6E7784B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4253D-7B16-372E-747F-84DD4F16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19</a:t>
            </a:fld>
            <a:endParaRPr lang="en-NP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7BC755-B94A-03D5-1990-E41AD7916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471" y="3551995"/>
            <a:ext cx="4380220" cy="2026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12F092-11E7-2B13-2A22-39439A4D305C}"/>
              </a:ext>
            </a:extLst>
          </p:cNvPr>
          <p:cNvSpPr txBox="1"/>
          <p:nvPr/>
        </p:nvSpPr>
        <p:spPr>
          <a:xfrm>
            <a:off x="838199" y="3186251"/>
            <a:ext cx="630233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programming language: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composed of facts and rules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by applying first-order predicate calculus/unification to programs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interpreter, compiler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 the computer what is true and what needs to be done, rather than how to do</a:t>
            </a: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298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F49D4-8F26-EE61-55C0-C2CB5015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58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LISP </a:t>
            </a:r>
            <a:endParaRPr lang="en-NP" sz="72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0DB73-E4C5-6A44-B235-52C74CB60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4270"/>
            <a:ext cx="10515600" cy="3349375"/>
          </a:xfrm>
        </p:spPr>
        <p:txBody>
          <a:bodyPr>
            <a:normAutofit/>
          </a:bodyPr>
          <a:lstStyle/>
          <a:p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Proposed by McCarthy, late 1950s; contemporary of COBOL, FORTRAN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Functional programming language based on lambda calculus/recursive function theory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Intended as a language for symbolic rather than numeric computation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Interactive interpreter, compiler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Uses atoms, lists, functions.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en-NP" sz="40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0461-D0D4-036D-1FE9-8E30FC5A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E411-8BE4-AF60-CC89-50A7AEB21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2094-3F08-C348-173C-FEA998295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20</a:t>
            </a:fld>
            <a:endParaRPr lang="en-NP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7243DB-3671-D090-88DD-AFCB0BFC6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578" y="3972323"/>
            <a:ext cx="4381786" cy="199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27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86AB-7FA6-0A5E-4400-D57A3F131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Artificial Intelligence </a:t>
            </a:r>
            <a:endParaRPr lang="en-NP" sz="88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C8727-EB6F-9EDB-665C-0748D16CE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sense reasoning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Reasoning under uncertain conditions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from experience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executing complex tasks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and communicating in spoken/written language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comprehension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Note: "easy for human" != "easy for machine".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Chess </a:t>
            </a:r>
            <a:r>
              <a:rPr lang="en-US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easy for computer, hard for human. </a:t>
            </a:r>
            <a:endParaRPr lang="en-US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recognition of chess pieces </a:t>
            </a:r>
            <a:r>
              <a:rPr lang="en-US" sz="1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easy for human, hard for computer. </a:t>
            </a:r>
            <a:endParaRPr lang="en-US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"Tasks that require knowledge of some domain" </a:t>
            </a:r>
            <a:endParaRPr lang="en-US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NP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2E9AA-5FBC-5596-91F0-A5364E831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38846-3C1F-DFF6-8A13-F3E6207B1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F6C87-C608-7B86-58A1-208169402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21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054805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6D853-8AB8-5493-6CE3-2A37A700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Definition </a:t>
            </a:r>
            <a:endParaRPr lang="en-NP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3903F-7B61-B338-335A-643415C7E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“The fact or condition of </a:t>
            </a:r>
            <a:r>
              <a:rPr lang="en-US" b="0" i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knowing something </a:t>
            </a:r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with familiarity gained through experience or </a:t>
            </a:r>
            <a:r>
              <a:rPr lang="en-US" sz="40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association.” (Webster’s Dictionary, 1988)(Knowing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something via seeing, hearing, touching, feeling, and tasting.)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“The fact or condition of </a:t>
            </a:r>
            <a:r>
              <a:rPr lang="en-US" b="0" i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being aware of </a:t>
            </a:r>
            <a:r>
              <a:rPr lang="en-US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something” . (Ex. Sun is hot, balls are round, sky is blue,...)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endParaRPr lang="en-NP" sz="40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E3516-4927-D38D-9547-2725C657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79CE7-C50D-CE49-11DF-7158B97A0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9EC19-010E-319D-1DFE-24958009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22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504137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C37C5-2DEC-C3A9-C62F-A48DA43C8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Knowledge Storing </a:t>
            </a:r>
            <a:endParaRPr lang="en-NP" sz="72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7CA72-4921-4B9E-0655-139A34D97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Natural language for people </a:t>
            </a:r>
            <a:endParaRPr lang="en-US" sz="4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sz="28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Symbols for computer: a number or character string that represents an object or idea (Internal representation of the knowledge).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sz="28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The core concepts: mapping from facts to an internal computer representation and also to a form that people can understand.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en-NP" sz="40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D0A0B-0625-DA8A-D3A1-A9132F793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4517D-1FB1-D9D2-973D-2C9E86B2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F15FC-23E0-CE99-BD3D-49B4ED51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23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12643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E149-F873-F3EE-510D-C6AB23B94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448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Knowledge Representation </a:t>
            </a:r>
            <a:endParaRPr lang="en-NP" sz="80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B0F0-3C5D-81D3-F804-AA37CDA8B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448"/>
            <a:ext cx="10515600" cy="492351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Simple facts or complex relationships </a:t>
            </a:r>
            <a:endParaRPr lang="en-US" sz="4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32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Mathematical formulas or rules for natural language syntax </a:t>
            </a:r>
            <a:endParaRPr lang="en-US" sz="4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32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Associations between related concepts </a:t>
            </a:r>
            <a:endParaRPr lang="en-US" sz="4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32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Inheritance hierarchies between classes of objects </a:t>
            </a:r>
            <a:endParaRPr lang="en-US" sz="4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32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Knowledge is not a “one-size-fits-all” proposition. </a:t>
            </a:r>
            <a:endParaRPr lang="en-US" sz="4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30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Knowledge: </a:t>
            </a:r>
          </a:p>
          <a:p>
            <a:pPr lvl="1" algn="just"/>
            <a:r>
              <a:rPr lang="en-US" sz="1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Example: automated language translation (English &lt;-----&gt; Japanese) </a:t>
            </a:r>
            <a:endParaRPr lang="en-US" sz="22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sz="1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”My name is </a:t>
            </a:r>
            <a:r>
              <a:rPr lang="en-US" sz="1800" b="0" dirty="0" err="1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hari</a:t>
            </a:r>
            <a:r>
              <a:rPr lang="en-US" sz="1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 bahadur." </a:t>
            </a:r>
            <a:endParaRPr lang="en-US" sz="22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sz="1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”Madan bahadur is my friend." </a:t>
            </a:r>
            <a:endParaRPr lang="en-US" sz="22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sz="1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Must determine what this means using knowledge of human discourse in English word-by-word translation </a:t>
            </a:r>
            <a:endParaRPr lang="en-US" sz="22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sz="1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---------------------&gt; Then generate </a:t>
            </a:r>
            <a:r>
              <a:rPr lang="en-US" sz="1800" b="0" dirty="0" err="1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japanese</a:t>
            </a:r>
            <a:r>
              <a:rPr lang="en-US" sz="1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 form of that meaning </a:t>
            </a:r>
            <a:endParaRPr lang="en-US" sz="22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endParaRPr lang="en-US" sz="3200" dirty="0">
              <a:effectLst/>
            </a:endParaRPr>
          </a:p>
          <a:p>
            <a:pPr algn="just"/>
            <a:endParaRPr lang="en-NP" sz="44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445EF-714A-5ED8-256E-3A2F04591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C9EBB-6E81-ABB0-E86F-AE44446A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47AC2-6B4D-AB00-E91F-DEF52D2B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24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114235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ABB7A-4F54-398D-93DD-203F5DD3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969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Knowledge </a:t>
            </a:r>
            <a:endParaRPr lang="en-NP" sz="72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DB901-12C1-2E63-0BF1-EC8336481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491"/>
            <a:ext cx="10515600" cy="1153881"/>
          </a:xfrm>
        </p:spPr>
        <p:txBody>
          <a:bodyPr>
            <a:normAutofit/>
          </a:bodyPr>
          <a:lstStyle/>
          <a:p>
            <a:pPr algn="just"/>
            <a:r>
              <a:rPr lang="en-US" sz="32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Note: </a:t>
            </a:r>
            <a:r>
              <a:rPr lang="en-US" sz="3200" b="0" i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knowledge != data. </a:t>
            </a:r>
            <a:endParaRPr lang="en-US" sz="4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32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Example: determining voltage from current and resistance </a:t>
            </a:r>
          </a:p>
          <a:p>
            <a:pPr algn="just"/>
            <a:endParaRPr lang="en-US" sz="72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endParaRPr lang="en-NP" sz="54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5D96C-A2DE-A156-5341-F4EF4533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DA366-1029-96A6-FC07-D5CCA97E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6FE63-B0E4-D01D-4A9D-2909CECA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25</a:t>
            </a:fld>
            <a:endParaRPr lang="en-NP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8C1A78-FC98-86E5-BE37-E983A84F1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710" y="2979506"/>
            <a:ext cx="4813300" cy="3086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2C401C-16DE-61CC-3C25-6138F82C0874}"/>
              </a:ext>
            </a:extLst>
          </p:cNvPr>
          <p:cNvSpPr txBox="1"/>
          <p:nvPr/>
        </p:nvSpPr>
        <p:spPr>
          <a:xfrm>
            <a:off x="838200" y="2558372"/>
            <a:ext cx="592219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Knowledge is </a:t>
            </a:r>
            <a:r>
              <a:rPr lang="en-US" sz="2800" b="0" i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more compact </a:t>
            </a:r>
            <a:r>
              <a:rPr lang="en-US" sz="2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and </a:t>
            </a:r>
            <a:r>
              <a:rPr lang="en-US" sz="2800" b="0" i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faster to manipulate. </a:t>
            </a:r>
            <a:endParaRPr lang="en-US" sz="5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Knowledge is </a:t>
            </a:r>
            <a:r>
              <a:rPr lang="en-US" sz="2800" b="0" i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more general </a:t>
            </a:r>
            <a:r>
              <a:rPr lang="en-US" sz="2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(that is, may be applied to situations we have </a:t>
            </a:r>
            <a:r>
              <a:rPr lang="en-US" sz="2800" b="0" i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not </a:t>
            </a:r>
            <a:endParaRPr lang="en-US" sz="5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been programmed for). </a:t>
            </a:r>
            <a:endParaRPr lang="en-US" sz="5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Important feature of intelligence: </a:t>
            </a:r>
            <a:r>
              <a:rPr lang="en-US" sz="2800" b="0" i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creating knowledge </a:t>
            </a:r>
            <a:r>
              <a:rPr lang="en-US" sz="28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from data. </a:t>
            </a:r>
            <a:endParaRPr lang="en-US" sz="54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918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F31D6-84CE-320D-DD45-AD587224D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544"/>
            <a:ext cx="10515600" cy="488241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"Heuristics for making good decisions when no algorithm exists for doing so"</a:t>
            </a:r>
          </a:p>
          <a:p>
            <a:pPr algn="just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That is, for many of the above problem, we must often make intelligent guesses due to:</a:t>
            </a:r>
          </a:p>
          <a:p>
            <a:pPr lvl="1" algn="just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Lack of complete knowledge about how to solve problem.</a:t>
            </a:r>
          </a:p>
          <a:p>
            <a:pPr lvl="1" algn="just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Lack of complete data about current situation.</a:t>
            </a:r>
          </a:p>
          <a:p>
            <a:pPr lvl="1" algn="just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Lack of time to completely explore situation.</a:t>
            </a:r>
          </a:p>
          <a:p>
            <a:pPr algn="just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Example: walking across room.</a:t>
            </a:r>
          </a:p>
          <a:p>
            <a:pPr lvl="1" algn="just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Do not have complete knowledge of physical laws associated with motion.</a:t>
            </a:r>
          </a:p>
          <a:p>
            <a:pPr lvl="1" algn="just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Do not have complete knowledge of room (such as what might be behind objects).</a:t>
            </a:r>
          </a:p>
          <a:p>
            <a:pPr lvl="1" algn="just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Do not have time to map out and compare all possible paths through room.</a:t>
            </a:r>
            <a:endParaRPr lang="en-NP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1708E-7E17-D7CC-8BA0-24891EF4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C8B5C-D94E-2EEC-D9EA-42549B67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926CB-AA5C-98F9-B571-E1429759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26</a:t>
            </a:fld>
            <a:endParaRPr lang="en-NP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E7B28F8-2C64-408B-5DA9-E72D73D6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695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Knowledge </a:t>
            </a:r>
            <a:endParaRPr lang="en-NP" sz="72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208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707A-70D3-86B7-8B9F-43110416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75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What is Learning? </a:t>
            </a:r>
            <a:endParaRPr lang="en-NP" sz="40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F5C3-7BA2-DE06-6A49-164E5546E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463"/>
            <a:ext cx="10515600" cy="2876764"/>
          </a:xfrm>
        </p:spPr>
        <p:txBody>
          <a:bodyPr>
            <a:normAutofit/>
          </a:bodyPr>
          <a:lstStyle/>
          <a:p>
            <a:pPr algn="just"/>
            <a:r>
              <a:rPr lang="en-US" sz="3200" b="0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Learning is one of those everyday terms which is broadly and vaguely used in the English language </a:t>
            </a:r>
            <a:endParaRPr lang="en-US" sz="32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Learning is making useful changes in our minds </a:t>
            </a:r>
            <a:endParaRPr lang="en-US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Learning is constructing or modifying representations of what is being experienced </a:t>
            </a:r>
            <a:endParaRPr lang="en-US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Learning is the phenomenon of knowledge acquisition in the absence of explicit programming </a:t>
            </a:r>
            <a:endParaRPr lang="en-US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endParaRPr lang="en-NP" sz="32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2A9BB-7E49-F85B-402E-D08ABCC2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C912C-FBA5-D4BD-DC62-97EFED6D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5E8CD-63CB-039C-F146-30EC0009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27</a:t>
            </a:fld>
            <a:endParaRPr lang="en-NP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DCB0C0-127B-ED78-960E-90568E68F91B}"/>
              </a:ext>
            </a:extLst>
          </p:cNvPr>
          <p:cNvSpPr txBox="1"/>
          <p:nvPr/>
        </p:nvSpPr>
        <p:spPr>
          <a:xfrm>
            <a:off x="1086492" y="5029872"/>
            <a:ext cx="102673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P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Herbert Simon, 1983</a:t>
            </a:r>
          </a:p>
          <a:p>
            <a:r>
              <a:rPr lang="en-NP" i="1" dirty="0">
                <a:solidFill>
                  <a:srgbClr val="FF0000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Learning denotes changes in the system that are adaptive in the sense that they enable the system to do</a:t>
            </a:r>
          </a:p>
          <a:p>
            <a:r>
              <a:rPr lang="en-NP" i="1" dirty="0">
                <a:solidFill>
                  <a:srgbClr val="FF0000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the same task or tasks drawn from the same population more efficiently and more effectively next time.</a:t>
            </a:r>
          </a:p>
        </p:txBody>
      </p:sp>
    </p:spTree>
    <p:extLst>
      <p:ext uri="{BB962C8B-B14F-4D97-AF65-F5344CB8AC3E}">
        <p14:creationId xmlns:p14="http://schemas.microsoft.com/office/powerpoint/2010/main" val="769395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0798B-215D-658D-88E9-A406692B2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What is Learning? </a:t>
            </a:r>
            <a:endParaRPr lang="en-NP" sz="66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777D7-7981-A0CF-C3EC-5F91E46F2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5970" y="1825625"/>
            <a:ext cx="7007830" cy="435133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Learning involves 3 factors: </a:t>
            </a:r>
            <a:endParaRPr lang="en-US" sz="4000" b="1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b="0" i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Learning changes the learner: for machine learning the problem is determining the nature of these changes and how to best represent them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b="0" i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Learning leads to generalization: performance must improve not only on the same task but on similar tasks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lvl="1" algn="just"/>
            <a:r>
              <a:rPr lang="en-US" b="0" i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Learning leads to improvements: machine learning must address the possibility that changes may degrade performance and find ways to prevent it.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32D8-B753-3C96-7776-C925BBD37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9A0A0-02C6-0E58-A66C-544359431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B5B8F-E1E6-F90F-00A7-86CB2210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28</a:t>
            </a:fld>
            <a:endParaRPr lang="en-NP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61AE3-0360-2BD9-820C-8EA066120A53}"/>
              </a:ext>
            </a:extLst>
          </p:cNvPr>
          <p:cNvSpPr txBox="1"/>
          <p:nvPr/>
        </p:nvSpPr>
        <p:spPr>
          <a:xfrm>
            <a:off x="838200" y="2546191"/>
            <a:ext cx="44718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dirty="0">
                <a:solidFill>
                  <a:srgbClr val="FF9900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Changes </a:t>
            </a:r>
          </a:p>
          <a:p>
            <a:endParaRPr lang="en-US" sz="1800" b="0" i="1" dirty="0">
              <a:solidFill>
                <a:srgbClr val="FF9900"/>
              </a:solidFill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i="1" dirty="0">
                <a:solidFill>
                  <a:srgbClr val="FF9900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	</a:t>
            </a:r>
            <a:r>
              <a:rPr lang="en-US" sz="1800" b="0" i="1" dirty="0">
                <a:solidFill>
                  <a:srgbClr val="FF9900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Generalization </a:t>
            </a:r>
            <a:endParaRPr lang="en-US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en-US" sz="1800" b="0" i="1" dirty="0">
              <a:solidFill>
                <a:srgbClr val="FF9900"/>
              </a:solidFill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sz="1800" b="0" i="1" dirty="0">
                <a:solidFill>
                  <a:srgbClr val="FF9900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		Improvement </a:t>
            </a:r>
            <a:endParaRPr lang="en-US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191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4A5F1-0CE4-A041-4976-A30ED2103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4000" b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What intelligent system can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AE89F-B499-C5A1-C0AF-B9277F87C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Consider what might be involved in building a “intelligent” computer.... </a:t>
            </a:r>
          </a:p>
          <a:p>
            <a:r>
              <a:rPr lang="en-US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Can we build hardware as complex as the brain? </a:t>
            </a:r>
          </a:p>
          <a:p>
            <a:r>
              <a:rPr lang="en-US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Must an Intelligent System be Foolproof?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Can Computers play Humans at Chess?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Can Computers Talk?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Can Computers Recognize Speech?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Can Computers understand Speech? </a:t>
            </a:r>
          </a:p>
          <a:p>
            <a:r>
              <a:rPr lang="en-US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Can Computers “see”?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Can Computers plan and make decisions? </a:t>
            </a:r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en-US" sz="4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en-NP" sz="40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87722-A152-784C-6DAB-9738F95E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79996-9D30-3745-60CF-AEFC4203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BC390-8481-853D-A0A9-4B38698E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29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07755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7685-9D89-2691-C464-66824E7C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064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Academic Disciplines important to AI. </a:t>
            </a:r>
            <a:endParaRPr lang="en-NP" sz="72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1C11C-D9AC-CFD3-873C-9E640805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96200-FD48-C031-BCC3-67F52168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EBA91-E727-FBDB-E9B3-3612AE84E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30</a:t>
            </a:fld>
            <a:endParaRPr lang="en-NP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23D52B-D626-3E6A-9310-730C1BB38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737"/>
            <a:ext cx="10515600" cy="4800226"/>
          </a:xfrm>
        </p:spPr>
        <p:txBody>
          <a:bodyPr>
            <a:noAutofit/>
          </a:bodyPr>
          <a:lstStyle/>
          <a:p>
            <a:pPr algn="just"/>
            <a:r>
              <a:rPr lang="en-NP" sz="20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Philosophy 	</a:t>
            </a:r>
            <a:r>
              <a:rPr lang="en-US" sz="20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Logic, methods of reasoning, mind as physical   system, foundations 			of learning, language,  rationality. </a:t>
            </a:r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20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Mathematics 	Formal representation and proof, algorithms,  computation, 					(un)decidability, (in)tractability,  probability. </a:t>
            </a:r>
          </a:p>
          <a:p>
            <a:pPr algn="just"/>
            <a:r>
              <a:rPr lang="en-US" sz="20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Economics 	utility, decision theory, rational economic agents </a:t>
            </a:r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20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Neuroscience 	neurons as information processing units. </a:t>
            </a:r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20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Psychology	how do people behave, perceive, process Cognitive Science 					information, represent knowledge. 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Computer 	building fast computers  engineering </a:t>
            </a:r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20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Control theory design systems that maximize an objective  function over time </a:t>
            </a:r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r>
              <a:rPr lang="en-US" sz="2000" b="1" dirty="0"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Linguistics 	knowledge representation, grammar </a:t>
            </a:r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 algn="just">
              <a:buNone/>
            </a:pPr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endParaRPr lang="en-US" sz="2000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algn="just"/>
            <a:endParaRPr lang="en-NP" sz="20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646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40235-AFCE-6141-80D4-E9E05478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E276-EE78-5BAC-69B8-33F9F539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93217-F9EA-7AE8-E477-7473CDFA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31</a:t>
            </a:fld>
            <a:endParaRPr lang="en-NP"/>
          </a:p>
        </p:txBody>
      </p:sp>
      <p:pic>
        <p:nvPicPr>
          <p:cNvPr id="7" name="Picture 2" descr="Using artificial intelligence in academic writing and research: An essential  productivity tool - ScienceDirect">
            <a:extLst>
              <a:ext uri="{FF2B5EF4-FFF2-40B4-BE49-F238E27FC236}">
                <a16:creationId xmlns:a16="http://schemas.microsoft.com/office/drawing/2014/main" id="{D8C59AD7-EF06-2579-D820-4F273D93A3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092" y="136525"/>
            <a:ext cx="8749816" cy="6081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613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01B6-B2C8-06EB-2B8E-53A57077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Intelligent Systems in Your Everyday Life </a:t>
            </a:r>
            <a:endParaRPr lang="en-NP" sz="6600" b="1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FE4BA-59EC-71E3-7715-85574D6F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6C9E6-50FE-E8EB-1FAC-845073A2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32B49-2B29-CA51-117E-9AC0DC74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32</a:t>
            </a:fld>
            <a:endParaRPr lang="en-NP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7C89D-9BE1-1FE7-7926-FDC60AE64178}"/>
              </a:ext>
            </a:extLst>
          </p:cNvPr>
          <p:cNvSpPr txBox="1"/>
          <p:nvPr/>
        </p:nvSpPr>
        <p:spPr>
          <a:xfrm>
            <a:off x="3047144" y="1506022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75BC1"/>
                </a:solidFill>
                <a:effectLst/>
                <a:latin typeface="Mongolian Baiti" panose="03000500000000000000" pitchFamily="66" charset="0"/>
                <a:cs typeface="Mongolian Baiti" panose="03000500000000000000" pitchFamily="66" charset="0"/>
              </a:rPr>
              <a:t>AI Applications </a:t>
            </a:r>
            <a:endParaRPr lang="en-US" sz="3600" b="1" dirty="0">
              <a:effectLst/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948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A090D-F7C3-5D26-D649-D0BB568C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01/12/2025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E71F8-DF8C-2CF0-896B-36855CD3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@Kiran Bagale</a:t>
            </a:r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14F0E-BB5E-3B47-599A-EDBD5C3E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FE29-51C5-0440-B5F5-32AF9C0D5993}" type="slidenum">
              <a:rPr lang="en-NP" smtClean="0"/>
              <a:t>33</a:t>
            </a:fld>
            <a:endParaRPr lang="en-N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BCE2D9-AB1B-3DAF-933A-10830F53A17F}"/>
              </a:ext>
            </a:extLst>
          </p:cNvPr>
          <p:cNvSpPr/>
          <p:nvPr/>
        </p:nvSpPr>
        <p:spPr>
          <a:xfrm>
            <a:off x="3810922" y="2967335"/>
            <a:ext cx="45701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Matura MT Script Capitals" panose="03020802060602070202" pitchFamily="66" charset="77"/>
                <a:ea typeface="STXingkai" panose="02010800040101010101" pitchFamily="2" charset="-122"/>
                <a:cs typeface="AL BAYAN PLAIN" pitchFamily="2" charset="-78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519216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2585</Words>
  <Application>Microsoft Macintosh PowerPoint</Application>
  <PresentationFormat>Widescreen</PresentationFormat>
  <Paragraphs>352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Matura MT Script Capitals</vt:lpstr>
      <vt:lpstr>Mongolian Baiti</vt:lpstr>
      <vt:lpstr>Times New Roman</vt:lpstr>
      <vt:lpstr>Wingdings</vt:lpstr>
      <vt:lpstr>Office Theme</vt:lpstr>
      <vt:lpstr>Artificial Intelligence  ENCT 305  </vt:lpstr>
      <vt:lpstr>Course Objectives: </vt:lpstr>
      <vt:lpstr>Course Contents</vt:lpstr>
      <vt:lpstr>References </vt:lpstr>
      <vt:lpstr>Evaluation </vt:lpstr>
      <vt:lpstr>PowerPoint Presentation</vt:lpstr>
      <vt:lpstr>PowerPoint Presentation</vt:lpstr>
      <vt:lpstr>PowerPoint Presentation</vt:lpstr>
      <vt:lpstr>Meaning of the word: “intelligence”  </vt:lpstr>
      <vt:lpstr>Meaning of the word: “intelligence”  </vt:lpstr>
      <vt:lpstr>What Behaviors are Intelligent? </vt:lpstr>
      <vt:lpstr>Artificial Intelligence </vt:lpstr>
      <vt:lpstr>Formal Definitions </vt:lpstr>
      <vt:lpstr>Different Types of Artificial Intelligence </vt:lpstr>
      <vt:lpstr>Acting humanly: Turing Test </vt:lpstr>
      <vt:lpstr>AI Today </vt:lpstr>
      <vt:lpstr>History of AI </vt:lpstr>
      <vt:lpstr>History of AI </vt:lpstr>
      <vt:lpstr>Prolog </vt:lpstr>
      <vt:lpstr>LISP </vt:lpstr>
      <vt:lpstr>Artificial Intelligence </vt:lpstr>
      <vt:lpstr>Knowledge Definition </vt:lpstr>
      <vt:lpstr>Knowledge Storing </vt:lpstr>
      <vt:lpstr>Knowledge Representation </vt:lpstr>
      <vt:lpstr>Knowledge </vt:lpstr>
      <vt:lpstr>Knowledge </vt:lpstr>
      <vt:lpstr>What is Learning? </vt:lpstr>
      <vt:lpstr>What is Learning? </vt:lpstr>
      <vt:lpstr>What intelligent system can do?</vt:lpstr>
      <vt:lpstr>Academic Disciplines important to AI. </vt:lpstr>
      <vt:lpstr>PowerPoint Presentation</vt:lpstr>
      <vt:lpstr>Intelligent Systems in Your Everyday Life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 ENCT 305  </dc:title>
  <dc:creator>Neon Labs Bagale</dc:creator>
  <cp:lastModifiedBy>Neon Labs Bagale</cp:lastModifiedBy>
  <cp:revision>39</cp:revision>
  <dcterms:created xsi:type="dcterms:W3CDTF">2025-12-01T15:21:25Z</dcterms:created>
  <dcterms:modified xsi:type="dcterms:W3CDTF">2025-12-02T06:35:08Z</dcterms:modified>
</cp:coreProperties>
</file>